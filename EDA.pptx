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80" r:id="rId3"/>
    <p:sldId id="262" r:id="rId4"/>
    <p:sldId id="263" r:id="rId5"/>
    <p:sldId id="264" r:id="rId6"/>
    <p:sldId id="281" r:id="rId7"/>
    <p:sldId id="265" r:id="rId8"/>
    <p:sldId id="282" r:id="rId9"/>
    <p:sldId id="266" r:id="rId10"/>
    <p:sldId id="267" r:id="rId11"/>
    <p:sldId id="269" r:id="rId12"/>
    <p:sldId id="274" r:id="rId13"/>
    <p:sldId id="275" r:id="rId14"/>
    <p:sldId id="268" r:id="rId15"/>
    <p:sldId id="276" r:id="rId16"/>
    <p:sldId id="277" r:id="rId17"/>
    <p:sldId id="270" r:id="rId18"/>
    <p:sldId id="271" r:id="rId19"/>
    <p:sldId id="272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81AEC-80E3-414A-86B5-8BD6DAAF0F88}" v="1" dt="2026-02-12T07:47:23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13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Bharadwaj" userId="e19c267242d4bc4c" providerId="LiveId" clId="{25E71196-1C13-4675-8601-37984577C6DC}"/>
    <pc:docChg chg="undo custSel addSld delSld modSld sldOrd">
      <pc:chgData name="Anand Bharadwaj" userId="e19c267242d4bc4c" providerId="LiveId" clId="{25E71196-1C13-4675-8601-37984577C6DC}" dt="2026-02-20T06:44:49.891" v="3293" actId="1076"/>
      <pc:docMkLst>
        <pc:docMk/>
      </pc:docMkLst>
      <pc:sldChg chg="modSp mod">
        <pc:chgData name="Anand Bharadwaj" userId="e19c267242d4bc4c" providerId="LiveId" clId="{25E71196-1C13-4675-8601-37984577C6DC}" dt="2026-02-20T06:44:49.891" v="3293" actId="1076"/>
        <pc:sldMkLst>
          <pc:docMk/>
          <pc:sldMk cId="0" sldId="257"/>
        </pc:sldMkLst>
        <pc:spChg chg="mod">
          <ac:chgData name="Anand Bharadwaj" userId="e19c267242d4bc4c" providerId="LiveId" clId="{25E71196-1C13-4675-8601-37984577C6DC}" dt="2026-02-20T06:44:49.891" v="3293" actId="1076"/>
          <ac:spMkLst>
            <pc:docMk/>
            <pc:sldMk cId="0" sldId="257"/>
            <ac:spMk id="99" creationId="{00000000-0000-0000-0000-000000000000}"/>
          </ac:spMkLst>
        </pc:spChg>
      </pc:sldChg>
      <pc:sldChg chg="del">
        <pc:chgData name="Anand Bharadwaj" userId="e19c267242d4bc4c" providerId="LiveId" clId="{25E71196-1C13-4675-8601-37984577C6DC}" dt="2026-02-20T06:32:34.893" v="3289" actId="47"/>
        <pc:sldMkLst>
          <pc:docMk/>
          <pc:sldMk cId="2515342843" sldId="273"/>
        </pc:sldMkLst>
      </pc:sldChg>
      <pc:sldChg chg="add del">
        <pc:chgData name="Anand Bharadwaj" userId="e19c267242d4bc4c" providerId="LiveId" clId="{25E71196-1C13-4675-8601-37984577C6DC}" dt="2026-02-20T06:32:36.950" v="3291" actId="47"/>
        <pc:sldMkLst>
          <pc:docMk/>
          <pc:sldMk cId="2828218108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3C6B4-77E7-426B-BEC1-3E098A1E41E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4EE6C-C5FC-4EB9-B5B4-F40A40705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80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6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247C-DAD1-B8C6-B377-6F6DF305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6D6A4-60E9-E769-E493-2CED28E7E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F8A6E-5CCE-1898-5B6B-F1AD8B4EB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A8E6-F2CA-B979-5AD0-E232A286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73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4EFBF-97BD-45C5-40C8-5AA3B75B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91A35-17F2-8564-3AAB-2813E93F7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9805E-1913-EDD0-1903-53CB2FCBD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FE141-7B9D-3808-389A-F1D1B31EB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61096-1DFA-0F79-115F-B6B0DD4C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D553C-1594-80E6-B165-34E0BA14A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F864E-2AAA-8D46-E448-277B4F747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75B1B-C6AA-20E0-DC16-D87F26C2E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448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37A1-A278-7F7D-1641-30A7D1C9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9C493-36D8-1781-EFCE-F9BC54E1C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F0E4A-A09C-D45B-45F6-A33B07B46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DEB8C-4838-53AD-E09F-8AA94708C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077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C3DA-9FA0-CCD1-E16D-339865DC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DA3C8-5722-1C7B-3CDC-4914D423E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2B1EE-426E-EF60-AFC7-5EC52900C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1E6CB-9FB9-8700-A54A-6D895CF09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349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A56B-22A0-162A-4031-91442872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3B918-14EB-86DC-E696-EFFCB3BA0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85808-6502-21F2-F4AD-16044A857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CA9F0-A93C-13EC-D6B3-942119362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271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70165-9821-830A-3EFF-F12025B1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CB0C3-5E5C-E3F6-E4CC-C7DBCF439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89E1B-62C4-C7E2-D08D-35E2361D8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79A3D-E220-7615-F732-D7ED479DF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071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8F15-5360-4070-9008-72C934A0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08882-51A7-0CBA-7B08-C5AD64D04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EB4E7-1552-37D8-8A75-42EB95A49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5C45-8442-3DBF-2DC0-F095C077B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27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23E8-C77D-A81C-E2B5-9727AB51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6B5D5-85F2-E0E6-CF6A-34C6BAA71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05D4C-5DEA-4524-2178-272D808E6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943D3-1EDE-13AD-2D5A-62D9180D4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623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2C5C-3D46-0CFA-2701-6C4C76FB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7A024-8FEA-5429-F76F-E97AEA7D8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639A0-7C44-977A-B699-9CC9CF1E2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15C54-8579-DFA6-0B3A-014C4BA72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22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3B5C-0A5C-20B1-3825-F247B8A6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CCAC8-4551-166D-3911-4F2BF9360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D11DB-A831-5D56-40D6-09B19370B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2D76-EA36-1ECA-9E9C-A07BE788A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703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5701C-73B9-8D1B-8750-B9B749BF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20463-6052-5E6A-40F3-3E3AB338C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5FCBD-914C-063D-AE94-5F49A479B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6460-7CDF-A246-C941-65E7FACEE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620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7E1-3D5D-CB79-2520-F66C1B2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8C31B-3E79-5375-8023-BF6108D62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247CA-328A-643A-5544-798BCA3B6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DD70B-D23F-D773-02A7-CC6C75860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4EE6C-C5FC-4EB9-B5B4-F40A4070585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24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AEC8-DACD-38E9-0279-9578FEA95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98031-5EAE-DE28-9D50-56177D33A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7CEC5-89E8-BB52-B08B-89072C35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2AD85-E238-C76B-53BF-F878F7EC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80056-5858-3DBF-24B4-0C564621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99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542E-E979-61FA-27F0-45636353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1310-3410-C6A4-7609-00A23E56E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62A4D-1BB4-80EA-CD83-359DF3AE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FF91C-62B5-F30C-3F7F-5E22DC8B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BC8D9-14EC-B42B-A391-179204B4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0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2A83-26BA-9078-FE6B-E6479944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71623-34EA-5FB9-AA47-9BDFE36FF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33533-03F8-C6D3-13A7-F362DC66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73944-C4A7-8C5D-9B7D-F1BAB7AF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EB33A-939A-EC28-B5B9-187A0DD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2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E402-C969-CEB1-8691-3F9F0546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CA97C-40CC-9E45-2FAC-133E2243E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3290-6F10-60AA-01D4-3FDCFFFD6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122A-3C13-A7A9-1D66-08864916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5B44-D8D8-CFE2-DA81-953815E5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6C89E-B4BC-46E9-2C95-D97D3EBD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7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841D-C341-B706-5E79-9B37A153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648EA-F4BA-4449-8394-60B851AC0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11C5F-9923-F976-8908-23D23218E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EF91D-AB53-0707-4BFE-D0D7E9992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2131F-0508-B0FA-0F56-C06067364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75CD3-4B84-B7E1-1FC8-A7890452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58E7C-8C32-C1C1-E070-4C52C8DF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1AD52-160D-E5DE-BF03-70819B44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7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2C68-4524-7DC3-5DAD-E9D4505B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04BA1-67FB-861A-2D14-68A43CF9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C8CF0-3F21-1A87-19EB-A0128D39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FCBAA-CB2E-5AEE-57AD-38CB3122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BA83E-D2AA-802B-376D-B6B4BA91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BC54-3A66-4755-2C75-4D129CF5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77DC-E43E-E5D6-50E7-D7E67E23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20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5F6D-B2B1-7602-063F-91700225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76035-6EA2-700C-18E7-1375A863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CA97D-8292-AD3D-23AE-E6D53A2BD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F9045-624F-9123-5AAB-65B23A8C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25640-8CC0-00B8-BEE3-7D8E9500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2A78E-CB02-2823-3BF9-A9191587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03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328D-E4ED-CFB1-7981-0367ECC2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8CCA9-45A8-CB98-0E98-BFD38F153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8EBF-0950-38BD-F764-0485476F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3EF9C-5790-2CAE-12BB-973573B6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5FD75-0ED5-3547-A45A-F6BB7CE4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ADBA1-6C59-574D-E489-94EFF43E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76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44E8-A276-5AC0-2072-A3E70200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96190-8E9D-3E61-E374-A9409F8D2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A47B9-2C7E-62B9-4173-8EA0334F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79514-6518-D220-A852-997DCCCE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81ECE-1E73-53C9-5106-6C31BD33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64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D54DB-333A-B3BF-4577-604A3242B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380FF-57A0-C2B4-7D2C-057023F5C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6ABD-F84F-AD71-9443-D4E1DE98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5AEC-EABC-2182-B4EC-0E2A5864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8FA7-C4CF-78BC-7572-8DC21CC1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52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348FC-CB89-A4D6-D9D1-8CE4BEC7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B85A8-6932-C35F-E184-EF6F8839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D7EDD-0B74-D6B8-9F75-531461072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04680-8C7E-456D-A7C6-2948968C2A3A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27C9C-AE44-F323-FB7B-1DA1C1405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10167-5696-D8BB-CCB8-89BE5C8C7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641D3-3527-4475-BD2F-6F0EA8E3F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1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88" y="-10709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0" y="3527854"/>
            <a:ext cx="1192015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IN" dirty="0"/>
          </a:p>
          <a:p>
            <a:pPr algn="ctr"/>
            <a:r>
              <a:rPr lang="en-US" sz="2400" b="1" dirty="0">
                <a:latin typeface="Consolas" panose="020B0609020204030204" pitchFamily="49" charset="0"/>
              </a:rPr>
              <a:t> OYO HOTELS Analysis Using Web Scraping And Performed EDA</a:t>
            </a:r>
            <a:endParaRPr sz="2400" b="1" i="0" u="none" strike="noStrike" cap="none" dirty="0">
              <a:solidFill>
                <a:srgbClr val="000000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0273-7DC8-DA1D-CE1F-C9866D0B055E}"/>
              </a:ext>
            </a:extLst>
          </p:cNvPr>
          <p:cNvSpPr txBox="1"/>
          <p:nvPr/>
        </p:nvSpPr>
        <p:spPr>
          <a:xfrm>
            <a:off x="6096000" y="4744995"/>
            <a:ext cx="44896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Innomatics Research Labs – Dilsukhnagar</a:t>
            </a:r>
          </a:p>
          <a:p>
            <a:r>
              <a:rPr lang="en-IN" dirty="0">
                <a:latin typeface="Consolas" panose="020B0609020204030204" pitchFamily="49" charset="0"/>
              </a:rPr>
              <a:t>Batch No : 403</a:t>
            </a:r>
          </a:p>
          <a:p>
            <a:r>
              <a:rPr lang="en-IN" dirty="0">
                <a:latin typeface="Consolas" panose="020B0609020204030204" pitchFamily="49" charset="0"/>
              </a:rPr>
              <a:t>Team:</a:t>
            </a:r>
          </a:p>
          <a:p>
            <a:r>
              <a:rPr lang="en-IN" dirty="0">
                <a:latin typeface="Consolas" panose="020B0609020204030204" pitchFamily="49" charset="0"/>
              </a:rPr>
              <a:t>Meduri V S Anand Bharadwaj</a:t>
            </a:r>
          </a:p>
          <a:p>
            <a:r>
              <a:rPr lang="en-IN" dirty="0">
                <a:latin typeface="Consolas" panose="020B0609020204030204" pitchFamily="49" charset="0"/>
              </a:rPr>
              <a:t>Melluri Vamshi Krishna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99281-20E9-C8C5-1F6E-77B21CD550DC}"/>
              </a:ext>
            </a:extLst>
          </p:cNvPr>
          <p:cNvSpPr txBox="1"/>
          <p:nvPr/>
        </p:nvSpPr>
        <p:spPr>
          <a:xfrm>
            <a:off x="189470" y="189470"/>
            <a:ext cx="8369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Problem Statement: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65252-5082-5704-8161-C9BE3998D8CC}"/>
              </a:ext>
            </a:extLst>
          </p:cNvPr>
          <p:cNvSpPr txBox="1"/>
          <p:nvPr/>
        </p:nvSpPr>
        <p:spPr>
          <a:xfrm>
            <a:off x="345989" y="1005016"/>
            <a:ext cx="92922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OYO  offers  staycations across India with varying prices, ratings, and facilities. To support trip planning, market analysis, and investment decisions.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This project collects and analyses OYO hotel data from multiple Indian cities to: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Compare hotel prices, ratings, and amenities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Identify top-rated and budget-friendly options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nsolas" panose="020B0609020204030204" pitchFamily="49" charset="0"/>
              </a:rPr>
              <a:t>Understand  trends in hospitality services</a:t>
            </a:r>
          </a:p>
          <a:p>
            <a:pPr fontAlgn="base"/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B8410-FAB0-970B-F199-E1C1A54F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952" y="6223223"/>
            <a:ext cx="4258961" cy="44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2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7C30-3FF6-E7D7-188F-B8A0526B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172F-9572-F0AE-AAD7-9E02016B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7" y="57349"/>
            <a:ext cx="5807676" cy="1034166"/>
          </a:xfrm>
        </p:spPr>
        <p:txBody>
          <a:bodyPr>
            <a:normAutofit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Contents:</a:t>
            </a:r>
            <a:endParaRPr lang="en-IN" sz="4000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42892-F075-37B4-CEBC-71B5AF71ED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6FA33-878C-703C-ABA6-EC363183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97" y="6260757"/>
            <a:ext cx="3575221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5E0501-00A5-D091-38E3-B13BA37808BE}"/>
              </a:ext>
            </a:extLst>
          </p:cNvPr>
          <p:cNvSpPr txBox="1"/>
          <p:nvPr/>
        </p:nvSpPr>
        <p:spPr>
          <a:xfrm>
            <a:off x="675503" y="1091515"/>
            <a:ext cx="79083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Web Scraping –Details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Summary of the Data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Exploratory Data Analysis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Consolas" panose="020B0609020204030204" pitchFamily="49" charset="0"/>
              </a:rPr>
              <a:t>Univariate Analysis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Consolas" panose="020B0609020204030204" pitchFamily="49" charset="0"/>
              </a:rPr>
              <a:t>Bivariate Analysis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Consolas" panose="020B0609020204030204" pitchFamily="49" charset="0"/>
              </a:rPr>
              <a:t>Multivariate Analysis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Conclusion</a:t>
            </a:r>
          </a:p>
          <a:p>
            <a:endParaRPr lang="en-IN" sz="2400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latin typeface="Consolas" panose="020B0609020204030204" pitchFamily="49" charset="0"/>
              </a:rPr>
              <a:t>Experience and Challenges</a:t>
            </a: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58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B599-0262-A0E5-E276-799B1E19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3661A3-A9A6-3314-2AC7-67E9D504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" y="151936"/>
            <a:ext cx="8221362" cy="62242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onsolas" panose="020B0609020204030204" pitchFamily="49" charset="0"/>
              </a:rPr>
              <a:t>Web Scraping –Tools &amp;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FCE4AD-7D48-5531-4063-4AAD8309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542517-DE0B-58DD-4511-604F90054529}"/>
              </a:ext>
            </a:extLst>
          </p:cNvPr>
          <p:cNvSpPr txBox="1"/>
          <p:nvPr/>
        </p:nvSpPr>
        <p:spPr>
          <a:xfrm>
            <a:off x="255373" y="774357"/>
            <a:ext cx="1154121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Website: </a:t>
            </a:r>
            <a:r>
              <a:rPr lang="en-IN" dirty="0">
                <a:latin typeface="Consolas" panose="020B0609020204030204" pitchFamily="49" charset="0"/>
              </a:rPr>
              <a:t>https://www.oyorooms.com</a:t>
            </a:r>
          </a:p>
          <a:p>
            <a:r>
              <a:rPr lang="en-US" dirty="0">
                <a:latin typeface="Consolas" panose="020B0609020204030204" pitchFamily="49" charset="0"/>
              </a:rPr>
              <a:t>Web Scraping: Web Scraping means Automatically collecting the information from the websites using code instead of copying it manually.</a:t>
            </a:r>
          </a:p>
          <a:p>
            <a:r>
              <a:rPr lang="en-IN" dirty="0">
                <a:latin typeface="Consolas" panose="020B0609020204030204" pitchFamily="49" charset="0"/>
              </a:rPr>
              <a:t>Processor Followed:</a:t>
            </a:r>
          </a:p>
          <a:p>
            <a:r>
              <a:rPr lang="en-IN" dirty="0">
                <a:latin typeface="Consolas" panose="020B0609020204030204" pitchFamily="49" charset="0"/>
              </a:rPr>
              <a:t>          1.Imported libraries:</a:t>
            </a:r>
          </a:p>
          <a:p>
            <a:r>
              <a:rPr lang="en-IN" dirty="0">
                <a:latin typeface="Consolas" panose="020B0609020204030204" pitchFamily="49" charset="0"/>
              </a:rPr>
              <a:t>                 requests for HTTP requests</a:t>
            </a:r>
          </a:p>
          <a:p>
            <a:r>
              <a:rPr lang="en-IN" dirty="0">
                <a:latin typeface="Consolas" panose="020B0609020204030204" pitchFamily="49" charset="0"/>
              </a:rPr>
              <a:t>                 BeautifulSoup for HTML parsing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re for text pattern matching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          2.Number of Pages: Around 90 Pages.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          3.</a:t>
            </a:r>
            <a:r>
              <a:rPr lang="en-US" dirty="0">
                <a:latin typeface="Consolas" panose="020B0609020204030204" pitchFamily="49" charset="0"/>
              </a:rPr>
              <a:t>HTTP GET requests sent with headers to avoid blocks.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          4.Parsed HTML with BeautifulSoup.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  5.Stored data in lists, later combined into a pandas DataFrame.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628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61FAB-9184-CA9F-84FD-9114AB0D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DF5E5F-53E7-7FAD-D294-8136A396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" y="151936"/>
            <a:ext cx="8221362" cy="62242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onsolas" panose="020B0609020204030204" pitchFamily="49" charset="0"/>
              </a:rPr>
              <a:t>Summary of the Data:</a:t>
            </a:r>
            <a:endParaRPr lang="en-IN" sz="32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14AFE-2F1F-4964-184B-7761C499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F16B0-EA58-05F0-D48C-64805A4A384D}"/>
              </a:ext>
            </a:extLst>
          </p:cNvPr>
          <p:cNvSpPr txBox="1"/>
          <p:nvPr/>
        </p:nvSpPr>
        <p:spPr>
          <a:xfrm>
            <a:off x="325394" y="774357"/>
            <a:ext cx="11541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onsolas" panose="020B0609020204030204" pitchFamily="49" charset="0"/>
              </a:rPr>
              <a:t>Column Name</a:t>
            </a:r>
            <a:r>
              <a:rPr lang="en-IN" b="1" dirty="0">
                <a:latin typeface="Consolas" panose="020B0609020204030204" pitchFamily="49" charset="0"/>
              </a:rPr>
              <a:t>          	</a:t>
            </a:r>
            <a:r>
              <a:rPr lang="en-IN" b="1" u="sng" dirty="0">
                <a:latin typeface="Consolas" panose="020B0609020204030204" pitchFamily="49" charset="0"/>
              </a:rPr>
              <a:t>Description</a:t>
            </a:r>
            <a:r>
              <a:rPr lang="en-IN" b="1" dirty="0">
                <a:latin typeface="Consolas" panose="020B0609020204030204" pitchFamily="49" charset="0"/>
              </a:rPr>
              <a:t>                                                       	</a:t>
            </a:r>
          </a:p>
          <a:p>
            <a:r>
              <a:rPr lang="en-US" b="1" dirty="0">
                <a:latin typeface="Consolas" panose="020B0609020204030204" pitchFamily="49" charset="0"/>
              </a:rPr>
              <a:t>City</a:t>
            </a:r>
            <a:r>
              <a:rPr lang="en-US" dirty="0">
                <a:latin typeface="Consolas" panose="020B0609020204030204" pitchFamily="49" charset="0"/>
              </a:rPr>
              <a:t>	         - The major metropolitan area or city where the hotel is located                               </a:t>
            </a:r>
          </a:p>
          <a:p>
            <a:r>
              <a:rPr lang="en-US" b="1" dirty="0">
                <a:latin typeface="Consolas" panose="020B0609020204030204" pitchFamily="49" charset="0"/>
              </a:rPr>
              <a:t>Hotel Name</a:t>
            </a:r>
            <a:r>
              <a:rPr lang="en-US" dirty="0">
                <a:latin typeface="Consolas" panose="020B0609020204030204" pitchFamily="49" charset="0"/>
              </a:rPr>
              <a:t>	  - The specific name of the OYO hotel property	</a:t>
            </a:r>
          </a:p>
          <a:p>
            <a:r>
              <a:rPr lang="en-US" b="1" dirty="0">
                <a:latin typeface="Consolas" panose="020B0609020204030204" pitchFamily="49" charset="0"/>
              </a:rPr>
              <a:t>Location        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The area or neighborhood within the city where the hotel is situated.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Price           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The price to book a room for one night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Ratings          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The average customer satisfaction rating for the hotel.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Amenities</a:t>
            </a:r>
            <a:r>
              <a:rPr lang="en-US" dirty="0">
                <a:latin typeface="Consolas" panose="020B0609020204030204" pitchFamily="49" charset="0"/>
              </a:rPr>
              <a:t>        - </a:t>
            </a:r>
            <a:r>
              <a:rPr lang="en-US" sz="1600" dirty="0">
                <a:latin typeface="Consolas" panose="020B0609020204030204" pitchFamily="49" charset="0"/>
              </a:rPr>
              <a:t>A  list of the services and facilities offered by the hotel                        </a:t>
            </a:r>
          </a:p>
          <a:p>
            <a:r>
              <a:rPr lang="en-IN" b="1" dirty="0">
                <a:latin typeface="Consolas" panose="020B0609020204030204" pitchFamily="49" charset="0"/>
              </a:rPr>
              <a:t>Area             </a:t>
            </a:r>
            <a:r>
              <a:rPr lang="en-IN" dirty="0">
                <a:latin typeface="Consolas" panose="020B0609020204030204" pitchFamily="49" charset="0"/>
              </a:rPr>
              <a:t>-</a:t>
            </a:r>
            <a:r>
              <a:rPr lang="en-IN" b="1" dirty="0"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Nearby locations to Hotel</a:t>
            </a:r>
          </a:p>
          <a:p>
            <a:r>
              <a:rPr lang="en-IN" b="1" dirty="0">
                <a:latin typeface="Consolas" panose="020B0609020204030204" pitchFamily="49" charset="0"/>
              </a:rPr>
              <a:t>Price Category   </a:t>
            </a:r>
            <a:r>
              <a:rPr lang="en-US" dirty="0">
                <a:latin typeface="Consolas" panose="020B0609020204030204" pitchFamily="49" charset="0"/>
              </a:rPr>
              <a:t>- The range of the hotel i.e Budget, Mid-range , Premium</a:t>
            </a:r>
          </a:p>
        </p:txBody>
      </p:sp>
    </p:spTree>
    <p:extLst>
      <p:ext uri="{BB962C8B-B14F-4D97-AF65-F5344CB8AC3E}">
        <p14:creationId xmlns:p14="http://schemas.microsoft.com/office/powerpoint/2010/main" val="222648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4C55F-E28D-2A17-0A9D-086DC9CFDBD9}"/>
              </a:ext>
            </a:extLst>
          </p:cNvPr>
          <p:cNvSpPr txBox="1"/>
          <p:nvPr/>
        </p:nvSpPr>
        <p:spPr>
          <a:xfrm>
            <a:off x="123568" y="280086"/>
            <a:ext cx="6063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Raw Data:</a:t>
            </a:r>
            <a:endParaRPr lang="en-IN" sz="24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32886-A35B-DFB5-2C91-ADBCC7C40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40" y="840259"/>
            <a:ext cx="10376320" cy="5025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5E722A-E59B-D195-742A-6394F2B00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946" y="6153665"/>
            <a:ext cx="3756453" cy="46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2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EF60-3A5F-541C-7A4A-57E2FBA1C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3E3263-D523-E827-5870-9E5B77B6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3" y="151936"/>
            <a:ext cx="8221362" cy="622421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onsolas" panose="020B0609020204030204" pitchFamily="49" charset="0"/>
              </a:rPr>
              <a:t>Exploratory Data Analysis(EDA):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FD6A35-88D3-889E-47CC-634ABE1D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F0B5A9-3B75-C51A-1E3F-89A66EEF0606}"/>
              </a:ext>
            </a:extLst>
          </p:cNvPr>
          <p:cNvSpPr txBox="1"/>
          <p:nvPr/>
        </p:nvSpPr>
        <p:spPr>
          <a:xfrm>
            <a:off x="304800" y="906162"/>
            <a:ext cx="116318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Data Cleaning and Data Manipulation: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Converted Columns into Proper Data Types</a:t>
            </a:r>
          </a:p>
          <a:p>
            <a:r>
              <a:rPr lang="en-US" b="1" dirty="0">
                <a:latin typeface="Consolas" panose="020B0609020204030204" pitchFamily="49" charset="0"/>
              </a:rPr>
              <a:t>                              </a:t>
            </a:r>
            <a:r>
              <a:rPr lang="en-US" dirty="0">
                <a:latin typeface="Consolas" panose="020B0609020204030204" pitchFamily="49" charset="0"/>
              </a:rPr>
              <a:t>1.Price    – Object to Integer</a:t>
            </a:r>
          </a:p>
          <a:p>
            <a:r>
              <a:rPr lang="en-IN" dirty="0">
                <a:latin typeface="Consolas" panose="020B0609020204030204" pitchFamily="49" charset="0"/>
              </a:rPr>
              <a:t>                              2.Rating   - </a:t>
            </a:r>
            <a:r>
              <a:rPr lang="en-US" dirty="0">
                <a:latin typeface="Consolas" panose="020B0609020204030204" pitchFamily="49" charset="0"/>
              </a:rPr>
              <a:t>Object to Integer</a:t>
            </a:r>
          </a:p>
          <a:p>
            <a:r>
              <a:rPr lang="en-US" b="1" dirty="0">
                <a:latin typeface="Consolas" panose="020B0609020204030204" pitchFamily="49" charset="0"/>
              </a:rPr>
              <a:t>Cleaning Steps:</a:t>
            </a:r>
          </a:p>
          <a:p>
            <a:r>
              <a:rPr lang="en-US" b="1" dirty="0">
                <a:latin typeface="Consolas" panose="020B0609020204030204" pitchFamily="49" charset="0"/>
              </a:rPr>
              <a:t>                     </a:t>
            </a:r>
            <a:r>
              <a:rPr lang="en-US" dirty="0">
                <a:latin typeface="Consolas" panose="020B0609020204030204" pitchFamily="49" charset="0"/>
              </a:rPr>
              <a:t>1.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Extract numeric price values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2. Extract numeric rating values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3. Extract primary area from location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4. Create binary indicators for amenities (AC, WiFi, TV)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5. Categorize prices into Budget/Mid-range/Premium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Handled Missing Values </a:t>
            </a:r>
            <a:r>
              <a:rPr lang="en-US" dirty="0">
                <a:latin typeface="Consolas" panose="020B0609020204030204" pitchFamily="49" charset="0"/>
              </a:rPr>
              <a:t>in important columns by filling them:</a:t>
            </a:r>
          </a:p>
          <a:p>
            <a:r>
              <a:rPr lang="en-US" i="1" dirty="0">
                <a:latin typeface="Consolas" panose="020B0609020204030204" pitchFamily="49" charset="0"/>
              </a:rPr>
              <a:t>Price </a:t>
            </a:r>
            <a:r>
              <a:rPr lang="en-US" dirty="0">
                <a:latin typeface="Consolas" panose="020B0609020204030204" pitchFamily="49" charset="0"/>
              </a:rPr>
              <a:t>and </a:t>
            </a:r>
            <a:r>
              <a:rPr lang="en-US" i="1" dirty="0">
                <a:latin typeface="Consolas" panose="020B0609020204030204" pitchFamily="49" charset="0"/>
              </a:rPr>
              <a:t>Rating</a:t>
            </a:r>
            <a:r>
              <a:rPr lang="en-US" dirty="0">
                <a:latin typeface="Consolas" panose="020B0609020204030204" pitchFamily="49" charset="0"/>
              </a:rPr>
              <a:t>→ missing values are filled with median and mean, since they are key for analysis.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115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466B9-C2D7-0AB5-15D2-F4074A73119B}"/>
              </a:ext>
            </a:extLst>
          </p:cNvPr>
          <p:cNvSpPr txBox="1"/>
          <p:nvPr/>
        </p:nvSpPr>
        <p:spPr>
          <a:xfrm>
            <a:off x="172995" y="181232"/>
            <a:ext cx="44896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Cleaned Data:</a:t>
            </a:r>
          </a:p>
          <a:p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99582-79D8-E125-7941-978F08BDB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5" y="679455"/>
            <a:ext cx="11582400" cy="549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89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B752-FE44-7CE8-2CD3-D56350FE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4882B6-2540-AA18-A496-862353CA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nsolas" panose="020B0609020204030204" pitchFamily="49" charset="0"/>
              </a:rPr>
              <a:t>Univariate Analysis – Number of Hotels in Each City</a:t>
            </a:r>
            <a:endParaRPr lang="en-IN" sz="28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4CB1F-2870-B686-7BBE-1C8DFCC2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67EE0D-1214-53CB-F79E-A2F34818F392}"/>
              </a:ext>
            </a:extLst>
          </p:cNvPr>
          <p:cNvSpPr txBox="1"/>
          <p:nvPr/>
        </p:nvSpPr>
        <p:spPr>
          <a:xfrm>
            <a:off x="263611" y="930876"/>
            <a:ext cx="116235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see how many Hotels are there in each city </a:t>
            </a:r>
          </a:p>
          <a:p>
            <a:r>
              <a:rPr lang="en-US" dirty="0">
                <a:latin typeface="Consolas" panose="020B0609020204030204" pitchFamily="49" charset="0"/>
              </a:rPr>
              <a:t>Listed In Oyo Platform.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number of Hotels in Hyderabad which is around </a:t>
            </a:r>
          </a:p>
          <a:p>
            <a:r>
              <a:rPr lang="en-US" dirty="0"/>
              <a:t>37% hotels across these 6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number of Hotels in Goa which is around 4.3% </a:t>
            </a:r>
          </a:p>
          <a:p>
            <a:r>
              <a:rPr lang="en-US" dirty="0"/>
              <a:t>hotels across these 6 cities..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Delhi and Kolkata has equal number of hotels which is</a:t>
            </a:r>
          </a:p>
          <a:p>
            <a:r>
              <a:rPr lang="en-US" dirty="0"/>
              <a:t> around 19%.</a:t>
            </a: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nsolas" panose="020B0609020204030204" pitchFamily="49" charset="0"/>
              </a:rPr>
              <a:t>Conclusion: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/>
              <a:t>Based on this analysis, Hyderabad dominates </a:t>
            </a:r>
            <a:r>
              <a:rPr lang="en-US" dirty="0"/>
              <a:t>the OYO </a:t>
            </a:r>
          </a:p>
          <a:p>
            <a:r>
              <a:rPr lang="en-US" dirty="0"/>
              <a:t>platform with the highest number of hotel listings.</a:t>
            </a:r>
          </a:p>
          <a:p>
            <a:r>
              <a:rPr lang="en-US" dirty="0"/>
              <a:t>Delhi and Kolkata reflect both cities showing steady </a:t>
            </a:r>
          </a:p>
          <a:p>
            <a:r>
              <a:rPr lang="en-US" dirty="0"/>
              <a:t>and balanced growth in OYO's network.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74483-270C-CB02-2E55-4D343C3FF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799" y="930876"/>
            <a:ext cx="5960201" cy="445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05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B3D6-72C3-AD7F-F74C-85F0F470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1D1A2-0691-AD71-9F88-78AA4C7F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Univariate Analysis – Distribution of Hotel Price</a:t>
            </a:r>
            <a:endParaRPr lang="en-IN" sz="24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4FF9B-AF6F-4C1F-4C47-74D577558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64AD55-1B5D-0122-0F4F-A4BC18DF7566}"/>
              </a:ext>
            </a:extLst>
          </p:cNvPr>
          <p:cNvSpPr txBox="1"/>
          <p:nvPr/>
        </p:nvSpPr>
        <p:spPr>
          <a:xfrm>
            <a:off x="263611" y="930876"/>
            <a:ext cx="116235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price distribution of  each Hotels </a:t>
            </a:r>
          </a:p>
          <a:p>
            <a:r>
              <a:rPr lang="en-US" dirty="0">
                <a:latin typeface="Consolas" panose="020B0609020204030204" pitchFamily="49" charset="0"/>
              </a:rPr>
              <a:t>Listed In Oyo Platform.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price distribution is </a:t>
            </a:r>
            <a:r>
              <a:rPr lang="en-US" b="1" dirty="0"/>
              <a:t>right-skewed</a:t>
            </a:r>
            <a:r>
              <a:rPr lang="en-US" dirty="0"/>
              <a:t> (positively skewed).</a:t>
            </a:r>
          </a:p>
          <a:p>
            <a:r>
              <a:rPr lang="en-US" dirty="0"/>
              <a:t> This means the majority of OYO hotels are concentrated at </a:t>
            </a:r>
          </a:p>
          <a:p>
            <a:r>
              <a:rPr lang="en-US" dirty="0"/>
              <a:t>the </a:t>
            </a:r>
            <a:r>
              <a:rPr lang="en-US" b="1" dirty="0"/>
              <a:t>left side</a:t>
            </a:r>
            <a:r>
              <a:rPr lang="en-US" dirty="0"/>
              <a:t> of the price scale, primarily between</a:t>
            </a:r>
          </a:p>
          <a:p>
            <a:r>
              <a:rPr lang="en-US" dirty="0"/>
              <a:t> </a:t>
            </a:r>
            <a:r>
              <a:rPr lang="en-US" b="1" dirty="0"/>
              <a:t>₹500 and ₹2000</a:t>
            </a:r>
            <a:r>
              <a:rPr lang="en-US" dirty="0"/>
              <a:t>.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long tail extending to the right shows a few premium</a:t>
            </a:r>
          </a:p>
          <a:p>
            <a:r>
              <a:rPr lang="en-US" dirty="0"/>
              <a:t> hotels that are significantly more expensive than the rest of </a:t>
            </a:r>
          </a:p>
          <a:p>
            <a:r>
              <a:rPr lang="en-US" dirty="0"/>
              <a:t>the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outliers the prices are distributed more between 2000-3500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nsolas" panose="020B0609020204030204" pitchFamily="49" charset="0"/>
              </a:rPr>
              <a:t>Conclusion: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US" dirty="0"/>
              <a:t>The price distribution for OYO hotels with the majority of properties</a:t>
            </a:r>
          </a:p>
          <a:p>
            <a:r>
              <a:rPr lang="en-US" dirty="0"/>
              <a:t> concentrated in the budget and lower-mid-range segment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3F87D7-36A4-AD08-72F3-488677C75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244" y="745516"/>
            <a:ext cx="5777854" cy="30057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ED8F73-2F6D-00EC-6D7D-E3B5520B5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685" y="3565885"/>
            <a:ext cx="4901515" cy="278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22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2070-03CA-F6F7-FB59-2CCA0EF3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05637-4EAD-D9F4-1CF9-F151114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Univariate Analysis – Ratings</a:t>
            </a:r>
            <a:endParaRPr lang="en-IN" sz="24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F9B28-BCCC-A336-BD75-6640E46C7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C52B4D-E569-7B53-8304-904E99854A95}"/>
              </a:ext>
            </a:extLst>
          </p:cNvPr>
          <p:cNvSpPr txBox="1"/>
          <p:nvPr/>
        </p:nvSpPr>
        <p:spPr>
          <a:xfrm>
            <a:off x="263611" y="930876"/>
            <a:ext cx="11623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Cleanliness Ratings of  each Hotels </a:t>
            </a:r>
          </a:p>
          <a:p>
            <a:r>
              <a:rPr lang="en-US" dirty="0">
                <a:latin typeface="Consolas" panose="020B0609020204030204" pitchFamily="49" charset="0"/>
              </a:rPr>
              <a:t>Listed In Oyo Platform.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Majority ratings ranges from 4.0 to 4.5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several outliers ratings below 3.5</a:t>
            </a:r>
            <a:endParaRPr lang="en-US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nsolas" panose="020B0609020204030204" pitchFamily="49" charset="0"/>
              </a:rPr>
              <a:t>Conclusion: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US" dirty="0"/>
              <a:t>The ratings distribution for OYO hotels with the majority </a:t>
            </a:r>
          </a:p>
          <a:p>
            <a:r>
              <a:rPr lang="en-US" dirty="0"/>
              <a:t>of properties concentrated between 4.0 to 4.5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F4F658-4EEB-3810-73A3-FFDB7B3DC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006" y="3949717"/>
            <a:ext cx="6363588" cy="2862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22F661-6284-B240-1F11-9B187D4B0D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466" y="617837"/>
            <a:ext cx="554307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7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D10F-CA78-1DC2-2F54-6512F7C8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F095A4-4537-D2C5-7B6E-3EDFC218F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Univariate Analysis – </a:t>
            </a:r>
            <a:r>
              <a:rPr lang="en-IN" sz="2000" b="1" dirty="0">
                <a:latin typeface="Consolas" panose="020B0609020204030204" pitchFamily="49" charset="0"/>
              </a:rPr>
              <a:t>Price Category Distribution</a:t>
            </a:r>
            <a:br>
              <a:rPr lang="en-IN" sz="2000" b="1" dirty="0">
                <a:latin typeface="Consolas" panose="020B0609020204030204" pitchFamily="49" charset="0"/>
              </a:rPr>
            </a:br>
            <a:endParaRPr lang="en-IN" sz="20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8AE47-8213-9D35-83F8-624BD1E5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21B13D-43F0-9097-F53A-6F624C7B831F}"/>
              </a:ext>
            </a:extLst>
          </p:cNvPr>
          <p:cNvSpPr txBox="1"/>
          <p:nvPr/>
        </p:nvSpPr>
        <p:spPr>
          <a:xfrm>
            <a:off x="263611" y="930876"/>
            <a:ext cx="116235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</a:t>
            </a:r>
            <a:r>
              <a:rPr lang="en-IN" dirty="0">
                <a:latin typeface="Consolas" panose="020B0609020204030204" pitchFamily="49" charset="0"/>
              </a:rPr>
              <a:t>Price Category Distribution</a:t>
            </a:r>
            <a:br>
              <a:rPr lang="en-IN" b="1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each Hotels Listed In Oyo Platform.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mid-range category clearly dominates the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hotels are classified as premium</a:t>
            </a:r>
          </a:p>
          <a:p>
            <a:r>
              <a:rPr lang="en-IN" b="1" dirty="0">
                <a:latin typeface="Consolas" panose="020B0609020204030204" pitchFamily="49" charset="0"/>
              </a:rPr>
              <a:t>Conclusion: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US" dirty="0"/>
              <a:t>The </a:t>
            </a:r>
            <a:r>
              <a:rPr lang="en-IN" dirty="0">
                <a:latin typeface="Consolas" panose="020B0609020204030204" pitchFamily="49" charset="0"/>
              </a:rPr>
              <a:t>Price Category Distribution </a:t>
            </a:r>
            <a:r>
              <a:rPr lang="en-US" dirty="0"/>
              <a:t>for OYO hotels</a:t>
            </a:r>
          </a:p>
          <a:p>
            <a:r>
              <a:rPr lang="en-US" dirty="0"/>
              <a:t> with the majority of properties concentrated in Mid-range</a:t>
            </a:r>
          </a:p>
          <a:p>
            <a:r>
              <a:rPr lang="en-US" dirty="0"/>
              <a:t>hotels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BA5B3-8AAB-4ABE-7D5C-FCE22262D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442" y="304800"/>
            <a:ext cx="4280045" cy="45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5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0CACE-4F07-F6A9-7687-64349653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E03721-B7B6-1493-F79B-9CC9B860E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Univariate Analysis -  Amenities -Availability of Ac-Wi-fi-Tv</a:t>
            </a:r>
            <a:endParaRPr lang="en-IN" sz="16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01BF8-276A-A456-D96E-2ABCB6BF9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757D70-837C-041E-4FEE-A85BD7025CF1}"/>
              </a:ext>
            </a:extLst>
          </p:cNvPr>
          <p:cNvSpPr txBox="1"/>
          <p:nvPr/>
        </p:nvSpPr>
        <p:spPr>
          <a:xfrm>
            <a:off x="164755" y="654938"/>
            <a:ext cx="11623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Amenities -Availability of Ac-Wi-fi-Tv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each Hotels Listed In Oyo Platform.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Hotels are with more number of non Ac rooms and less Ac rooms.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Hotels have more availability of wifi.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Hotels have less availability of Tv	</a:t>
            </a:r>
          </a:p>
          <a:p>
            <a:r>
              <a:rPr lang="en-IN" b="1" dirty="0">
                <a:latin typeface="Consolas" panose="020B0609020204030204" pitchFamily="49" charset="0"/>
              </a:rPr>
              <a:t>Conclusion: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US" dirty="0"/>
              <a:t>The hotels with more availability of wifi and less availability of Ac rooms and Tv.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3D36B-CE4D-7732-41CB-15D91410C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56" y="3608172"/>
            <a:ext cx="11623589" cy="256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07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CA9B-FA3F-8F09-03E0-E1778CA3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93BDE2-C607-6C4A-BF6A-E7B0E4C7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Bivariate Analysis - Hotel Category Distribution across Cities</a:t>
            </a:r>
            <a:endParaRPr lang="en-IN" sz="20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47281-5A79-1B5E-2A8F-987536291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E31AEF-B26E-879D-82C5-ECC71E098FCF}"/>
              </a:ext>
            </a:extLst>
          </p:cNvPr>
          <p:cNvSpPr txBox="1"/>
          <p:nvPr/>
        </p:nvSpPr>
        <p:spPr>
          <a:xfrm>
            <a:off x="263611" y="930876"/>
            <a:ext cx="11623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Hotel Price Category Distribution</a:t>
            </a:r>
          </a:p>
          <a:p>
            <a:r>
              <a:rPr lang="en-US" dirty="0">
                <a:latin typeface="Consolas" panose="020B0609020204030204" pitchFamily="49" charset="0"/>
              </a:rPr>
              <a:t>by City.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Hyderabad leads in Mid-range hotels, suggesting it’s a hotspot</a:t>
            </a:r>
          </a:p>
          <a:p>
            <a:r>
              <a:rPr lang="en-US" dirty="0"/>
              <a:t> for value-conscious travelers who still expect decent amenities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Mumbai stands out in the Premium category.</a:t>
            </a:r>
            <a:endParaRPr lang="en-IN" b="1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Conclusion: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US" dirty="0"/>
              <a:t>Mid-range hotels are abundant across most cities</a:t>
            </a:r>
          </a:p>
          <a:p>
            <a:r>
              <a:rPr lang="en-US" dirty="0"/>
              <a:t>especially Hyderabad, Delhi, and Mumbai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887B6-7ED4-E9DD-5922-6A3A2EF9A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978" y="633705"/>
            <a:ext cx="5404021" cy="559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23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1FB5-0618-12B6-329E-05AD8367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5C561C-4913-D640-ACBE-92A25050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Bivariate Analysis - Price Distribution across Price Categories</a:t>
            </a:r>
            <a:endParaRPr lang="en-IN" sz="20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C276-80AB-ECC3-B55F-7F82D7EF2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D57CE0-126A-2274-82D1-D8E09527BF51}"/>
              </a:ext>
            </a:extLst>
          </p:cNvPr>
          <p:cNvSpPr txBox="1"/>
          <p:nvPr/>
        </p:nvSpPr>
        <p:spPr>
          <a:xfrm>
            <a:off x="263611" y="930876"/>
            <a:ext cx="116235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Price Distribution across Price </a:t>
            </a:r>
          </a:p>
          <a:p>
            <a:r>
              <a:rPr lang="en-US" dirty="0">
                <a:latin typeface="Consolas" panose="020B0609020204030204" pitchFamily="49" charset="0"/>
              </a:rPr>
              <a:t>Categories</a:t>
            </a:r>
            <a:r>
              <a:rPr lang="en-US" b="1" dirty="0">
                <a:latin typeface="Consolas" panose="020B0609020204030204" pitchFamily="49" charset="0"/>
              </a:rPr>
              <a:t>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Premium category has multiple outliers above ₹4500.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 Range has multiple outliers above 2000. </a:t>
            </a:r>
          </a:p>
          <a:p>
            <a:r>
              <a:rPr lang="en-IN" b="1" dirty="0">
                <a:latin typeface="Consolas" panose="020B0609020204030204" pitchFamily="49" charset="0"/>
              </a:rPr>
              <a:t>Conclusion:</a:t>
            </a:r>
          </a:p>
          <a:p>
            <a:r>
              <a:rPr lang="en-IN" dirty="0">
                <a:latin typeface="Consolas" panose="020B0609020204030204" pitchFamily="49" charset="0"/>
              </a:rPr>
              <a:t>Most of the Hotel prices are ranges from</a:t>
            </a:r>
          </a:p>
          <a:p>
            <a:r>
              <a:rPr lang="en-IN" dirty="0">
                <a:latin typeface="Consolas" panose="020B0609020204030204" pitchFamily="49" charset="0"/>
              </a:rPr>
              <a:t>1000 to 2000.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64118-0436-AAD2-B3D3-D2EE82532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082" y="683741"/>
            <a:ext cx="5277342" cy="531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18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FB7C-932D-DA63-6576-B9E52581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1636FE-F2C0-CB1F-F394-EA6A2630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Bivariate Analysis - Average Hotel Rating by City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336B7-A225-BC7C-673C-8C4C135B1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6B87C4-759B-8D34-5009-9534641F0032}"/>
              </a:ext>
            </a:extLst>
          </p:cNvPr>
          <p:cNvSpPr txBox="1"/>
          <p:nvPr/>
        </p:nvSpPr>
        <p:spPr>
          <a:xfrm>
            <a:off x="263611" y="930876"/>
            <a:ext cx="11623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Average Hotel Rating by City. </a:t>
            </a: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All cities maintain high cleanliness standards,</a:t>
            </a:r>
          </a:p>
          <a:p>
            <a:r>
              <a:rPr lang="en-US" dirty="0">
                <a:latin typeface="Consolas" panose="020B0609020204030204" pitchFamily="49" charset="0"/>
              </a:rPr>
              <a:t>with average ratings above 4. </a:t>
            </a:r>
          </a:p>
          <a:p>
            <a:r>
              <a:rPr lang="en-IN" b="1" dirty="0">
                <a:latin typeface="Consolas" panose="020B0609020204030204" pitchFamily="49" charset="0"/>
              </a:rPr>
              <a:t>Conclusion: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Consistently high cleanliness ratings across all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cities reflect a strong baseline of hygiene standards.</a:t>
            </a:r>
            <a:endParaRPr lang="en-IN" sz="1600" b="1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8CD01-53F9-87DA-C9DB-4973F325F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897" y="716433"/>
            <a:ext cx="5857103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16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75D6-E9B6-BE9D-A87A-425EF7CE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5CA2C8-39C0-B5CA-25C2-513C39D7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737"/>
            <a:ext cx="10527957" cy="622421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Consolas" panose="020B0609020204030204" pitchFamily="49" charset="0"/>
              </a:rPr>
              <a:t>Multivariate Analysis </a:t>
            </a:r>
            <a:r>
              <a:rPr lang="en-US" sz="2000" b="1" dirty="0">
                <a:latin typeface="Consolas" panose="020B0609020204030204" pitchFamily="49" charset="0"/>
              </a:rPr>
              <a:t>– Price , Rating , Amenities</a:t>
            </a:r>
            <a:endParaRPr lang="en-IN" sz="20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DAFEE2-EF3C-C785-6BEB-CA5C00EC7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662674-151B-357C-6086-4D975D3EEB93}"/>
              </a:ext>
            </a:extLst>
          </p:cNvPr>
          <p:cNvSpPr txBox="1"/>
          <p:nvPr/>
        </p:nvSpPr>
        <p:spPr>
          <a:xfrm>
            <a:off x="90616" y="390078"/>
            <a:ext cx="116235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Objective:</a:t>
            </a:r>
          </a:p>
          <a:p>
            <a:r>
              <a:rPr lang="en-US" dirty="0">
                <a:latin typeface="Consolas" panose="020B0609020204030204" pitchFamily="49" charset="0"/>
              </a:rPr>
              <a:t>To know the relation between Price , Rating </a:t>
            </a:r>
            <a:r>
              <a:rPr lang="en-US">
                <a:latin typeface="Consolas" panose="020B0609020204030204" pitchFamily="49" charset="0"/>
              </a:rPr>
              <a:t>, Amenities.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Insights:</a:t>
            </a:r>
            <a:endParaRPr lang="en-IN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 vs Rating → 0.08 Very weak positive correlation Suggests that higher prices don’t necessarily guarantee better cleanliness ratings. Guests may not perceive value purely through price Mumbai stands out in the Premium category,</a:t>
            </a:r>
            <a:endParaRPr lang="en-IN" b="1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Conclusion:</a:t>
            </a:r>
          </a:p>
          <a:p>
            <a:r>
              <a:rPr lang="en-US" dirty="0"/>
              <a:t>Has AC vs Has TV → 0.6 Strong positive correlation Indicates that AC and TV often co-occur, likely bundled in mid-range or premium listings. Could be used as a proxy for comfort tier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6CABD-2B97-39AD-9BD0-15CEDE74F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92" y="3429000"/>
            <a:ext cx="8128489" cy="337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2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29CA-A2E5-8A64-C149-37DE3CC7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F217C3-F348-4324-035C-02D51D1DF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Consolas" panose="020B0609020204030204" pitchFamily="49" charset="0"/>
              </a:rPr>
              <a:t>Experience &amp; Challenges: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2D57D-507D-9331-E5AB-BA577BD64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4BB4B-9910-113C-007A-879B96E340CE}"/>
              </a:ext>
            </a:extLst>
          </p:cNvPr>
          <p:cNvSpPr txBox="1"/>
          <p:nvPr/>
        </p:nvSpPr>
        <p:spPr>
          <a:xfrm>
            <a:off x="156519" y="630523"/>
            <a:ext cx="11623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Experience:</a:t>
            </a:r>
            <a:endParaRPr lang="en-IN" dirty="0"/>
          </a:p>
          <a:p>
            <a:r>
              <a:rPr lang="en-US" dirty="0"/>
              <a:t>Learned how to scrape real-time  data from Websites.</a:t>
            </a:r>
          </a:p>
          <a:p>
            <a:r>
              <a:rPr lang="en-US" dirty="0"/>
              <a:t>Gained hands-on practice in </a:t>
            </a:r>
            <a:r>
              <a:rPr lang="en-US" b="1" dirty="0"/>
              <a:t>Univariate, Bivariate, and Multivariate Analysis</a:t>
            </a:r>
            <a:r>
              <a:rPr lang="en-US" dirty="0"/>
              <a:t>.</a:t>
            </a:r>
          </a:p>
          <a:p>
            <a:r>
              <a:rPr lang="en-US" dirty="0"/>
              <a:t>Improved skills in </a:t>
            </a:r>
            <a:r>
              <a:rPr lang="en-US" b="1" dirty="0"/>
              <a:t>Python, Pandas, Matplotlib/Seaborn, and Data Cleaning</a:t>
            </a:r>
            <a:r>
              <a:rPr lang="en-US" dirty="0"/>
              <a:t>.</a:t>
            </a:r>
          </a:p>
          <a:p>
            <a:endParaRPr lang="en-IN" dirty="0"/>
          </a:p>
          <a:p>
            <a:r>
              <a:rPr lang="en-IN" b="1" dirty="0"/>
              <a:t>Challenges</a:t>
            </a:r>
            <a:endParaRPr lang="en-IN" dirty="0"/>
          </a:p>
          <a:p>
            <a:r>
              <a:rPr lang="en-US" dirty="0"/>
              <a:t>Faced issues with </a:t>
            </a:r>
            <a:r>
              <a:rPr lang="en-US" b="1" dirty="0"/>
              <a:t>missing, inconsistent, and noisy data</a:t>
            </a:r>
            <a:r>
              <a:rPr lang="en-US" dirty="0"/>
              <a:t>.</a:t>
            </a:r>
          </a:p>
          <a:p>
            <a:r>
              <a:rPr lang="en-US" dirty="0"/>
              <a:t>Data cleaning &amp; preprocessing required </a:t>
            </a:r>
            <a:r>
              <a:rPr lang="en-US" b="1" dirty="0"/>
              <a:t>more effort than coding</a:t>
            </a:r>
            <a:r>
              <a:rPr lang="en-US" dirty="0"/>
              <a:t>.</a:t>
            </a:r>
          </a:p>
          <a:p>
            <a:r>
              <a:rPr lang="en-US" dirty="0"/>
              <a:t>Handling </a:t>
            </a:r>
            <a:r>
              <a:rPr lang="en-US" b="1" dirty="0"/>
              <a:t>dynamic website structure and anti-scraping measures</a:t>
            </a:r>
            <a:endParaRPr lang="en-US" dirty="0"/>
          </a:p>
          <a:p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34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9969-6F38-68D9-4DB9-BE96FF50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0BD1D-E947-ECDD-179B-BF223741C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2" y="151936"/>
            <a:ext cx="10527957" cy="62242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Consolas" panose="020B0609020204030204" pitchFamily="49" charset="0"/>
              </a:rPr>
              <a:t>Conclusion: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FAA0D5-D6A6-D5D1-531E-F64E1ED6E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8D54BE-68D1-61BC-E0ED-43249E33C68B}"/>
              </a:ext>
            </a:extLst>
          </p:cNvPr>
          <p:cNvSpPr txBox="1"/>
          <p:nvPr/>
        </p:nvSpPr>
        <p:spPr>
          <a:xfrm>
            <a:off x="156519" y="630523"/>
            <a:ext cx="1162358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nsolas" panose="020B0609020204030204" pitchFamily="49" charset="0"/>
              </a:rPr>
              <a:t>City Distribution</a:t>
            </a:r>
            <a:r>
              <a:rPr lang="en-US" dirty="0">
                <a:latin typeface="Consolas" panose="020B0609020204030204" pitchFamily="49" charset="0"/>
              </a:rPr>
              <a:t> shows a balanced representation, enabling fair regional comparisons.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nsolas" panose="020B0609020204030204" pitchFamily="49" charset="0"/>
              </a:rPr>
              <a:t>City vs Rating</a:t>
            </a:r>
            <a:r>
              <a:rPr lang="en-US" dirty="0">
                <a:latin typeface="Consolas" panose="020B0609020204030204" pitchFamily="49" charset="0"/>
              </a:rPr>
              <a:t> highlights that cleanliness standards vary across cities and price categories—some budget hotels outperform mid-range ones in other regions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nsolas" panose="020B0609020204030204" pitchFamily="49" charset="0"/>
              </a:rPr>
              <a:t>Cleanliness Ratings</a:t>
            </a:r>
            <a:r>
              <a:rPr lang="en-US" dirty="0">
                <a:latin typeface="Consolas" panose="020B0609020204030204" pitchFamily="49" charset="0"/>
              </a:rPr>
              <a:t> cluster around mid-to-high values, suggesting generally acceptable standards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59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414BC-667A-E362-9EF4-36DC8789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458202-58DD-BDFE-F220-35D168302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265" y="6260757"/>
            <a:ext cx="3756453" cy="4453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9C8269-5072-7C69-9ED4-7EFF4F6F5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724" y="2132004"/>
            <a:ext cx="4328810" cy="2493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F53328-C1BC-55E0-C7D4-7E1150549956}"/>
              </a:ext>
            </a:extLst>
          </p:cNvPr>
          <p:cNvSpPr txBox="1"/>
          <p:nvPr/>
        </p:nvSpPr>
        <p:spPr>
          <a:xfrm>
            <a:off x="842232" y="2455561"/>
            <a:ext cx="6124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0" i="0" u="none" strike="noStrike" baseline="0" dirty="0">
                <a:solidFill>
                  <a:srgbClr val="C00000"/>
                </a:solidFill>
                <a:latin typeface="Consolas" panose="020B0609020204030204" pitchFamily="49" charset="0"/>
              </a:rPr>
              <a:t>THANK YOU</a:t>
            </a:r>
            <a:endParaRPr lang="en-IN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1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1265</Words>
  <Application>Microsoft Office PowerPoint</Application>
  <PresentationFormat>Widescreen</PresentationFormat>
  <Paragraphs>204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Contents:</vt:lpstr>
      <vt:lpstr>Web Scraping –Tools &amp; Process</vt:lpstr>
      <vt:lpstr>Summary of the Data:</vt:lpstr>
      <vt:lpstr>PowerPoint Presentation</vt:lpstr>
      <vt:lpstr>Exploratory Data Analysis(EDA):</vt:lpstr>
      <vt:lpstr>PowerPoint Presentation</vt:lpstr>
      <vt:lpstr>Univariate Analysis – Number of Hotels in Each City</vt:lpstr>
      <vt:lpstr>Univariate Analysis – Distribution of Hotel Price</vt:lpstr>
      <vt:lpstr>Univariate Analysis – Ratings</vt:lpstr>
      <vt:lpstr>Univariate Analysis – Price Category Distribution </vt:lpstr>
      <vt:lpstr>Univariate Analysis -  Amenities -Availability of Ac-Wi-fi-Tv</vt:lpstr>
      <vt:lpstr>Bivariate Analysis - Hotel Category Distribution across Cities</vt:lpstr>
      <vt:lpstr>Bivariate Analysis - Price Distribution across Price Categories</vt:lpstr>
      <vt:lpstr>Bivariate Analysis - Average Hotel Rating by City</vt:lpstr>
      <vt:lpstr>Multivariate Analysis – Price , Rating , Amenities</vt:lpstr>
      <vt:lpstr>Experience &amp; Challenges: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Bharadwaj</dc:creator>
  <cp:lastModifiedBy>Anand Bharadwaj</cp:lastModifiedBy>
  <cp:revision>35</cp:revision>
  <dcterms:created xsi:type="dcterms:W3CDTF">2025-10-08T10:00:49Z</dcterms:created>
  <dcterms:modified xsi:type="dcterms:W3CDTF">2026-02-20T06:44:57Z</dcterms:modified>
</cp:coreProperties>
</file>